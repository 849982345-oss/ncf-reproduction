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论文复现 · 约5分钟</a:t>
            </a:r>
          </a:p>
          <a:p>
            <a:pPr/>
          </a:p>
          <a:p>
            <a:pPr lvl="1"/>
            <a:r>
              <a:rPr>
                <a:latin typeface="Calibri"/>
              </a:rPr>
              <a:t>- 为什么复现 NCF
- 论文核心:三种结构
- 复现流程与环境
- 结果对比(我的 vs 论文)
- 问题与差距分析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暑期学习总结 · 约3分钟</a:t>
            </a:r>
          </a:p>
          <a:p>
            <a:pPr/>
          </a:p>
          <a:p>
            <a:pPr lvl="1"/>
            <a:r>
              <a:rPr>
                <a:latin typeface="Calibri"/>
              </a:rPr>
              <a:t>- 学习内容与方法
- 完成工作与产物
- 遇到的问题
- 后续计划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Layout: column-2-centered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Layout: column-2-centered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结果可对照</a:t>
            </a:r>
          </a:p>
          <a:p>
            <a:pPr/>
          </a:p>
          <a:p>
            <a:pPr lvl="1"/>
            <a:r>
              <a:rPr>
                <a:latin typeface="Calibri"/>
              </a:rPr>
              <a:t>- 论文报告 MovieLens-1M 上 HR@10 / NDCG@10
- 代码规模小(数百行),单卡可完整复现
- 有公开权威数字检验复现质量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为科研打底</a:t>
            </a:r>
          </a:p>
          <a:p>
            <a:pPr/>
          </a:p>
          <a:p>
            <a:pPr lvl="1"/>
            <a:r>
              <a:rPr>
                <a:latin typeface="Calibri"/>
              </a:rPr>
              <a:t>- 官方为 TensorFlow 1,本复现为 PyTorch
- 与序列推荐、GNN 推荐一脉相承
- 对齐后续组内方向(开源生态 / 负责任推荐)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领域代表作</a:t>
            </a:r>
          </a:p>
          <a:p>
            <a:pPr/>
          </a:p>
          <a:p>
            <a:pPr lvl="1"/>
            <a:r>
              <a:rPr>
                <a:latin typeface="Calibri"/>
              </a:rPr>
              <a:t>- 神经协同过滤奠基工作
- WWW 2017,被引数千
- 理解「深度学习如何建模 user-item 交互」的入口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为什么复现 NCF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MLP</a:t>
            </a:r>
          </a:p>
          <a:p>
            <a:pPr/>
          </a:p>
          <a:p>
            <a:pPr lvl="1"/>
            <a:r>
              <a:rPr>
                <a:latin typeface="Calibri"/>
              </a:rPr>
              <a:t>embedding 拼接 → 多层感知机</a:t>
            </a:r>
          </a:p>
          <a:p>
            <a:pPr lvl="1"/>
          </a:p>
          <a:p>
            <a:pPr lvl="1"/>
            <a:r>
              <a:rPr>
                <a:latin typeface="Calibri"/>
              </a:rPr>
              <a:t>建模非线性交互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NeuMF</a:t>
            </a:r>
          </a:p>
          <a:p>
            <a:pPr/>
          </a:p>
          <a:p>
            <a:pPr lvl="1"/>
            <a:r>
              <a:rPr>
                <a:latin typeface="Calibri"/>
              </a:rPr>
              <a:t>GMF + MLP 双塔融合后打分</a:t>
            </a:r>
          </a:p>
          <a:p>
            <a:pPr lvl="1"/>
          </a:p>
          <a:p>
            <a:pPr lvl="1"/>
            <a:r>
              <a:rPr>
                <a:latin typeface="Calibri"/>
              </a:rPr>
              <a:t>论文与本次复现均显示最优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GMF</a:t>
            </a:r>
          </a:p>
          <a:p>
            <a:pPr/>
          </a:p>
          <a:p>
            <a:pPr lvl="1"/>
            <a:r>
              <a:rPr>
                <a:latin typeface="Calibri"/>
              </a:rPr>
              <a:t>广义矩阵分解:embedding 逐元素相乘 → 线性打分</a:t>
            </a:r>
          </a:p>
          <a:p>
            <a:pPr lvl="1"/>
          </a:p>
          <a:p>
            <a:pPr lvl="1"/>
            <a:r>
              <a:rPr>
                <a:latin typeface="Calibri"/>
              </a:rPr>
              <a:t>内积的神经网络推广,建模线性交互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论文核心——用神经网络学习交互函数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训练与评估协议:隐式反馈二值化 · log loss · 训练负采样 1:4 · leave-one-out 测试 · HR@10 / NDCG@10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数据</a:t>
            </a:r>
          </a:p>
          <a:p>
            <a:pPr/>
          </a:p>
          <a:p>
            <a:pPr lvl="1"/>
            <a:r>
              <a:rPr>
                <a:latin typeface="Calibri"/>
              </a:rPr>
              <a:t>- MovieLens-1M:6040 用户 / 3706 物品 / 100 万交互
- 论文官方切分:每用户最新一条为测试
- 训练 99.4 万条 / 测试 6040 用户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协议与超参</a:t>
            </a:r>
          </a:p>
          <a:p>
            <a:pPr/>
          </a:p>
          <a:p>
            <a:pPr lvl="1"/>
            <a:r>
              <a:rPr>
                <a:latin typeface="Calibri"/>
              </a:rPr>
              <a:t>- 测试:1 正 + 99 负 = 100 候选(官方文件)
- factor=8 · MLP 3 层 · batch 256 · lr 1e-3 · 50 epochs
- 每 epoch 全量评估并记录指标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环境</a:t>
            </a:r>
          </a:p>
          <a:p>
            <a:pPr/>
          </a:p>
          <a:p>
            <a:pPr lvl="1"/>
            <a:r>
              <a:rPr>
                <a:latin typeface="Calibri"/>
              </a:rPr>
              <a:t>- RTX 5070 Ti(16GB)· CUDA 13.4
- PyTorch 2.14.0 + cu130
- 基于 guoyang9/NCF PyTorch 移植,逐模块核对论文结构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复现环境与流程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复现结果——NeuMF 达到并超过论文水平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645920"/>
          <a:ext cx="11734494" cy="411480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955749"/>
                <a:gridCol w="1955749"/>
                <a:gridCol w="1955749"/>
                <a:gridCol w="1955749"/>
                <a:gridCol w="1955749"/>
                <a:gridCol w="1955749"/>
              </a:tblGrid>
              <a:tr h="82296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模型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复现 HR@10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复现 NDCG@10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论文 HR@10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论文 NDCG@10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出处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GMF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≈0.645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≈0.335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Figure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≈0.640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≈0.345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Figure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NeuMF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0.410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Table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Calibri"/>
                        </a:rPr>
                        <a:t>相对趋势 NeuMF &gt; GMF ≈ MLP 与论文完全一致;绝对差距 &lt; 0.03,源于实现与超参差异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Layout: content-image-right-a</a:t>
            </a:r>
          </a:p>
          <a:p>
            <a:pPr lvl="1"/>
            <a:r>
              <a:rPr>
                <a:latin typeface="Calibri"/>
              </a:rPr>
              <a:t>左:HR@10 随 epoch 变化(约 20 epoch 进入平台期);右:NDCG@10 随 epoch 变化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训练过程——三种结构均稳定收敛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工具链</a:t>
            </a:r>
          </a:p>
          <a:p>
            <a:pPr/>
          </a:p>
          <a:p>
            <a:pPr lvl="1"/>
            <a:r>
              <a:rPr>
                <a:latin typeface="Calibri"/>
              </a:rPr>
              <a:t>- RTX 5070 Ti(sm_120)需 cu128+;系统预装 CPU 版 torch,强制重装 cu130
- GitHub / grouplens 直连不通,代理镜像获取代码与数据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复现差距归因</a:t>
            </a:r>
          </a:p>
          <a:p>
            <a:pPr/>
          </a:p>
          <a:p>
            <a:pPr lvl="1"/>
            <a:r>
              <a:rPr>
                <a:latin typeface="Calibri"/>
              </a:rPr>
              <a:t>- TF→PyTorch 实现差异 + 训练预算/调参策略不同
- 论文 Figure 数值为图读近似
- 相对趋势一致 → 复现可信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数据真伪</a:t>
            </a:r>
          </a:p>
          <a:p>
            <a:pPr/>
          </a:p>
          <a:p>
            <a:pPr lvl="1"/>
            <a:r>
              <a:rPr>
                <a:latin typeface="Calibri"/>
              </a:rPr>
              <a:t>- 预下载「ml-1m」实为模拟数据(user 行为序列异常)
- 弃用,改取论文官方处理产物
- 教训:先核数据来源与协议,指标才有意义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问题分析与踩坑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Layout: content-centered-a</a:t>
            </a:r>
          </a:p>
          <a:p>
            <a:pPr lvl="1"/>
            <a:r>
              <a:rPr>
                <a:latin typeface="Calibri"/>
              </a:rPr>
              <a:t>学习内容:科研方法论(文献检索与精读·三问框架)、PyTorch 实验全链路、Python / 数据分析、Git</a:t>
            </a:r>
          </a:p>
          <a:p>
            <a:pPr lvl="1"/>
            <a:r>
              <a:rPr>
                <a:latin typeface="Calibri"/>
              </a:rPr>
              <a:t>完成工作:系统入门推荐系统;独立完成 NCF 三结构复现(GMF / MLP / NeuMF)</a:t>
            </a:r>
          </a:p>
          <a:p>
            <a:pPr lvl="1"/>
            <a:r>
              <a:rPr>
                <a:latin typeface="Calibri"/>
              </a:rPr>
              <a:t>具体产物:完整代码仓库(README·日志·逐 epoch 指标)· 结果图表 · 本汇报</a:t>
            </a:r>
          </a:p>
          <a:p>
            <a:pPr lvl="1"/>
            <a:r>
              <a:rPr>
                <a:latin typeface="Calibri"/>
              </a:rPr>
              <a:t>遇到的问题:新卡 CUDA 兼容 · 数据源甄别 · 论文数字与复现差异的归因方法</a:t>
            </a:r>
          </a:p>
          <a:p>
            <a:pPr lvl="1"/>
            <a:r>
              <a:rPr>
                <a:latin typeface="Calibri"/>
              </a:rPr>
              <a:t>后续计划:对齐导师方向(开源生态 / 多智能体 / 负责任推荐);补 GNN 与 LLM 推荐方法;从复现走向改进(负采样策略小实验)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暑期学习总结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743200"/>
            <a:ext cx="11734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代码仓库、实验日志与结果图表均可现场查看,欢迎老师批评指正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