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各位老师好,我是 2026 级硕士研究生徐胜钦,本科新能源科学与工程,跨专业到软件工程,研究方向是推荐系统。下面汇报两部分:一篇论文的复现情况,和假期学习总结。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我复现的是 Neural Collaborative Filtering,何向南等作者,发表于 WWW 2017。它是用深度学习做协同过滤这条线的奠基工作,被引数千次;官方代码 GitHub 开源(TensorFlow 1);论文报告了 MovieLens-1M 上的 HR@10 和 NDCG@10,有明确可对照的数字。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选它之前我做了文献调研:NCF 承接 2016 年的 Wide &amp; Deep,之后 2018 年出现 SASRec 把自注意力引入序列推荐,2020 年 LightGCN 把图卷积简化到极致,再往后是对比学习和大模型推荐。NCF 正好在链条的起点位置,适合作为第一篇复现。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论文要解决的核心问题是:协同过滤里怎么建模用户和物品的交互。传统矩阵分解用内积,表达能力受限;论文用神经网络学习交互函数,提出三种结构:GMF 把 embedding 逐元素相乘再线性打分,建模线性交互;MLP 把 embedding 拼接后过多层感知机,建模非线性;NeuMF 融合两路。训练用隐式反馈二分类、log loss、1 正比 4 负采样;评估用 leave-one-out,每个用户 100 个候选,算 HR@10 和 NDCG@10。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这是核心公式:GMF 的预测式、MLP 的前向、NeuMF 的融合式,以及训练用的二分类 log loss。下面两个是评估指标的定义式——HR@10 是命中率,NDCG@10 还考虑了排名位置。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环境是本机 RTX 5070 Ti 16G,PyTorch 2.14 加 cu130。数据用的是论文官方仓库处理好的 MovieLens-1M:训练 99.4 万条,测试是 6040 个用户、每个用户 1 个真实目标加 99 个随机负样本,和论文协议完全一致。超参固定 factor=8、batch 256、学习率 1e-3。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这是仓库里的真实代码,左边是 model.py 里三种结构的 forward:可以看到 GMF 的逐元素相乘、MLP 的拼接进多层网络、NeuMF 的双路 cat 融合。右边是负采样:每条正样本采 4 条负样本,并且用 while 循环跳过用户已经交互过的物品。这些逻辑都和论文逐模块核对过。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这是训练循环:清梯度、前向、算 loss、反向、更新参数五步;每个 epoch 结束后切换到评估模式,对全部 6040 个测试用户做全量评估,然后把指标以 6 位小数写进日志文件。这是我自己加的三处工程改造之一,另外两处是 --model 参数一键切换三种结构、以及 Windows 环境适配。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实验流程是:环境核验、数据校验、先用 2 个 epoch 冒烟测试确认整条链路通,然后三种结构各跑 50 个 epoch,每个 epoch 都在全量测试用户上评估。三个模型在 5070 Ti 上各跑了 23 到 35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这是复现结果对照论文:NeuMF 是我复现到最好的——HR@10 是 0.690,NDCG@10 是 0.409;论文 Table 2 报告的是 0.688 和 0.410,两项差距都在 0.002 以内,复现成立。GMF 复现 0.640,论文图里读数约 0.645;MLP 是 0.675。关键相对趋势 NeuMF 最好、GMF 和 MLP 接近,和论文结论完全一致。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这是三个模型 50 个 epoch 的训练曲线:都在 20 个 epoch 左右进入平台期,曲线平滑,没有过拟合迹象,相对排序也保持和论文一致。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复现过程中有三个值得说的坑:第一,数据真伪——我最初拿到一份预处理数据,抽查发现行为序列异常,判断是模拟数据直接弃用,改从论文官方仓库取数并校验行数;第二,显卡兼容——5070 Ti 是新架构,需要 cu128 以上的 PyTorch,机器上预装的是 CPU 版,我卸载后重装了 cu130;第三,网络问题——GitHub 和数据集官网直连不通,用代理镜像拿到代码和数据,代理还会截断大文件,我按字节数校验后重新下载。结果差距我归因三层:实现差异、训练预算、对照口径。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局限我也如实说:第一,评估口径是 100 个候选,和全量物品排序不可比,而且论文正文说 100 个负样本、官方数据文件实际是 99 个;第二,我只固定了一组超参,没有做网格搜索,也是差距来源之一;第三,单次运行没有报多随机种子的方差。个人思考:下一步可以先试难负采样,再考虑物品侧引入属性特征。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假期学习围绕一条主线:能不能独立完成一次论文复现。学习内容包括科研方法论——文献检索和精读的三问框架、PyTorch 的实验全链路、Python 与数据分析基础、Git 工作流。完成的工作是系统梳理了推荐系统基础,并独立完成 NCF 从读到跑通到对比的全过程。遇到的问题:跨专业基础差距,我的策略是先跑通最小闭环。后续计划分三步:对齐组内方向、从复现走向改进、长期做出自己的第一篇工作。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产物一共四类,都可以现场查验:第一是代码仓库,已经推上 GitHub,包含代码、官方数据和运行脚本;第二是实验日志,每个 epoch 的指标 6 位小数落盘,完整终端输出也保留;第三是结果图表,包括对比表和训练曲线;第四是分析文档和这份 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我的汇报到这里,代码仓库、实验日志和结果图表都可以现场查看,欢迎各位老师批评指正。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15384" y="0"/>
            <a:ext cx="7973568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15384" y="256032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15384" y="6601968"/>
            <a:ext cx="7772400" cy="16459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重庆大学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9D6E4"/>
                </a:solidFill>
                <a:latin typeface="微软雅黑"/>
                <a:ea typeface="微软雅黑"/>
              </a:rPr>
              <a:t>大数据与软件学院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3291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徐胜钦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/>
                <a:ea typeface="微软雅黑"/>
              </a:rPr>
              <a:t>2026 级硕士研究生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C9D6E4"/>
                </a:solidFill>
                <a:latin typeface="微软雅黑"/>
                <a:ea typeface="微软雅黑"/>
              </a:rPr>
              <a:t>软件工程 · 推荐系统方向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0515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研究生入学汇报  ·  PERSONAL RESEARCH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7223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21242B"/>
                </a:solidFill>
                <a:latin typeface="微软雅黑"/>
                <a:ea typeface="微软雅黑"/>
              </a:rPr>
              <a:t>论文复现与暑期学习汇报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NCF 复现 · MovieLens-1M · HR@10 / NDCG@10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767328"/>
            <a:ext cx="1828800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343400"/>
            <a:ext cx="7223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42B"/>
                </a:solidFill>
                <a:latin typeface="微软雅黑"/>
                <a:ea typeface="微软雅黑"/>
              </a:rPr>
              <a:t>Neural Collaborative Filtering (WWW 2017)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微软雅黑"/>
                <a:ea typeface="微软雅黑"/>
              </a:rPr>
              <a:t>复现 GMF / MLP / NeuMF 三种结构,HR@10 / NDCG@10 对照论文报告值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5806440"/>
            <a:ext cx="7223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汇报框架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① 论文复现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5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为什么复现 NCF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论文核心:三种结构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复现流程与环境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结果对比:我的 vs 论文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问题与差距分析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E79"/>
                </a:solidFill>
                <a:latin typeface="微软雅黑"/>
                <a:ea typeface="微软雅黑"/>
              </a:rPr>
              <a:t>② 暑期学习总结</a:t>
            </a:r>
            <a:r>
              <a:rPr sz="1200" b="0">
                <a:solidFill>
                  <a:srgbClr val="6B7280"/>
                </a:solidFill>
                <a:latin typeface="微软雅黑"/>
                <a:ea typeface="微软雅黑"/>
              </a:rPr>
              <a:t>　约 3 分钟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学习内容与方法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完成工作与产物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遇到的问题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• 后续计划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我是 2026 级徐胜钦,跨专业到软件工程,方向推荐系统;今天汇报:一篇论文复现 + 假期学习总结。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来源与可得性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选自本人文献库推荐系统方向基础文献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官方代码 GitHub 开源(TensorFlow 1)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论文报告 MovieLens-1M 上 HR@10 / NDCG@10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选题理由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代码规模小,单卡可完整复现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与序列 / GNN 推荐一脉相承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为后续科研建立最小闭环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论文身份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Neural Collaborative Filtering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何向南 等 · WWW 2017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神经协同过滤奠基工作 · 被引数千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论文来源与选题理由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复现的是 WWW 2017 的 NCF——神经协同过滤的奠基工作,官方开源、有权威对照数字。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文献脉络:NCF 在推荐系统中的位置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2016–2026 技术演进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2016  Wide &amp; Deep:深度学习进入推荐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9A7B12"/>
                </a:solidFill>
                <a:latin typeface="微软雅黑"/>
                <a:ea typeface="微软雅黑"/>
              </a:rPr>
              <a:t>• 2017  NCF:神经协同过滤奠基 ← 本次复现</a:t>
            </a:r>
            <a:r>
              <a:rPr sz="1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2018  SASRec:自注意力序列推荐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2020  LightGCN:图卷积协同过滤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2021–22  图对比学习(SGL / SimGCL)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2023+  大模型推荐(LLM4Rec)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文献检索与精读方法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关键词分层:领域 / 任务 / 方法 / 问题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多渠道检索:DBLP · Google Scholar · GitHub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精读三问:解决什么 / 怎么解决 / 怎么证明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文献库管理:Zotero 沉淀与分类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以代码验证论文:官方仓库 → 逐模块核对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NCF 承接 Wide&amp;Deep,启发了后面的 SASRec 与 LightGCN——这是我文献调研的脉络。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MLP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多层感知机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拼接 → 多层非线性变换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建模非线性交互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NeuMF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双塔融合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GMF + MLP 拼接后打分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论文与本次复现均显示最优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GMF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广义矩阵分解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embedding 逐元素相乘 → 线性打分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内积的神经网络推广 · 线性交互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论文核心:用神经网络学习交互函数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微软雅黑"/>
                <a:ea typeface="微软雅黑"/>
              </a:rPr>
              <a:t>协议:隐式反馈二值化 · log loss · 训练负采样 1:4 · leave-one-out 测试 · HR@10 / NDCG@10</a:t>
            </a:r>
          </a:p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一句话:用神经网络学习交互函数,替代传统矩阵分解的内积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论文核心:用神经网络替代内积建模交互——GMF 线性、MLP 非线性、NeuMF 双路融合,复现中 NeuMF 最好。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论文核心公式</a:t>
            </a:r>
          </a:p>
        </p:txBody>
      </p:sp>
      <p:pic>
        <p:nvPicPr>
          <p:cNvPr id="3" name="Picture 2" descr="form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170432"/>
            <a:ext cx="8961120" cy="47509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三种结构的预测式与二分类损失;下面两行是 HR@10 与 NDCG@10 的定义式。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MovieLens-1M:6040 用户 / 3706 物品 / 100 万交互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论文官方切分:每用户最新一条为测试(leave-one-out)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训练 99.4 万条 · 测试 6040 用户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协议与超参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测试:1 正 + 99 负 = 100 候选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factor=8 · MLP 3 层 · batch 256 · lr 1e-3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50 epochs · 逐 epoch 全量评估记录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数据取自论文官方仓库并校验行数/字节数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环境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RTX 5070 Ti(16 GB)· CUDA 13.4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PyTorch 2.14.0 + cu130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42B"/>
                </a:solidFill>
                <a:latin typeface="微软雅黑"/>
                <a:ea typeface="微软雅黑"/>
              </a:rPr>
              <a:t>• 基于 guoyang9/NCF 移植,逐模块核对论文结构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复现环境与流程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环境 RTX 5070 Ti + PyTorch cu130;数据用论文官方处理产物,切分与评估协议和论文一致。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242B"/>
                </a:solidFill>
                <a:latin typeface="微软雅黑"/>
                <a:ea typeface="微软雅黑"/>
              </a:rPr>
              <a:t>代码解析(1/2):模型三结构与负采样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562356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model.py — 三种结构的 forward(原样摘录)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if not self.model == 'MLP':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embed_user_GMF = self.embed_user_GMF(user)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embed_item_GMF = self.embed_item_GMF(item)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output_GMF = embed_user_GMF * embed_item_GMF  # 逐元素相乘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if not self.model == 'GMF':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embed_user_MLP = self.embed_user_MLP(user)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embed_item_MLP = self.embed_item_MLP(item)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interaction = torch.cat((embed_user_MLP,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                     embed_item_MLP), -1)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output_MLP = self.MLP_layers(interaction)   # 多层非线性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if self.model == 'GMF':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concat = output_GMF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elif self.model == 'MLP':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concat = output_MLP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else:   # NeuMF:两路融合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concat = torch.cat((output_GMF, output_MLP), -1)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prediction = self.predict_layer(concat)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48640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data_utils.py — 训练负采样(1 正 : 4 负)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for x in self.features_ps:        # 每条正样本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u = x[0]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for t in range(self.num_ng):  # num_ng = 4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j = np.random.randint(self.num_item)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while (u, j) in self.train_mat: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            # 跳过用户已交互物品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    j = np.random.randint(self.num_item)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self.features_ng.append([u, j])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/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训练集 = 正样本 + 负样本(每 epoch 重新采样)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features_fill = features_ps + features_ng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labels_fill   = [1]*len(features_ps) + [0]*len(features_ng)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这是仓库真实代码:三结构 forward 与 1:4 负采样,与论文逐模块核对过。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1242B"/>
                </a:solidFill>
                <a:latin typeface="微软雅黑"/>
                <a:ea typeface="微软雅黑"/>
              </a:rPr>
              <a:t>代码解析(2/2):训练循环与指标落盘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667512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# main.py — 训练与逐 epoch 全量评估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for epoch in range(args.epochs):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train_loader.dataset.ng_sample()   # 每 epoch 重采样负样本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for user, item, label in train_loader: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model.zero_grad()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prediction = model(user.cuda(), item.cuda())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loss = loss_function(prediction, label.float().cuda())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loss.backward()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optimizer.step()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model.eval()                        # 切评估模式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HR, NDCG = evaluate.metrics(model, test_loader, args.top_k)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os.makedirs('logs', exist_ok=True)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with open('logs/{}_{}_factor{}.tsv'.format(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E8ECF2"/>
                </a:solidFill>
                <a:latin typeface="Consolas"/>
                <a:ea typeface="微软雅黑"/>
              </a:rPr>
              <a:t>            config.model, 'ml-1m', args.factor_num), 'a') as mf: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8FD1FF"/>
                </a:solidFill>
                <a:latin typeface="Consolas"/>
                <a:ea typeface="微软雅黑"/>
              </a:rPr>
              <a:t>        mf.write('{}  {:.6f}  {:.6f}'.format(epoch, hr, ndcg))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7E8B9E"/>
                </a:solidFill>
                <a:latin typeface="Consolas"/>
                <a:ea typeface="微软雅黑"/>
              </a:rPr>
              <a:t>        # 仓库实现:epoch / HR@10 / NDCG@10 制表符分隔,6 位小数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417320"/>
            <a:ext cx="4434840" cy="4343400"/>
          </a:xfrm>
          <a:prstGeom prst="roundRect">
            <a:avLst>
              <a:gd name="adj" fmla="val 3500"/>
            </a:avLst>
          </a:prstGeom>
          <a:solidFill>
            <a:srgbClr val="1E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91440" bIns="91440"/>
          <a:lstStyle/>
          <a:p>
            <a:pPr algn="ctr"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# evaluate.py — 与论文一致的口径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predictions = model(user, item)   # 100 个候选打分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_, indices = torch.topk(predictions, top_k)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8FD1FF"/>
                </a:solidFill>
                <a:latin typeface="Consolas"/>
                <a:ea typeface="微软雅黑"/>
              </a:rPr>
              <a:t>recommends = torch.take(item, indices)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>gt_item = item[0]    # 第 1 个候选 = 真实目标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>HR.append(hit(gt_item, recommends))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>NDCG.append(ndcg(gt_item, recommends))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E8ECF2"/>
                </a:solidFill>
                <a:latin typeface="Consolas"/>
                <a:ea typeface="微软雅黑"/>
              </a:rPr>
              <a:t/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负采样口径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  训练 1:4      (每 epoch 重采样)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  测试 1 正 + 99 负 = 100 候选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7E8B9E"/>
                </a:solidFill>
                <a:latin typeface="Consolas"/>
                <a:ea typeface="微软雅黑"/>
              </a:rPr>
              <a:t>#   取论文官方 test.negative 文件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训练循环五步,每个 epoch 结束后对 6040 个测试用户做全量评估,指标 6 位小数落盘。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训练配置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factor=8 · MLP 3 层 · batch 256 · lr 1e-3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Adam · 4:1 负采样 · 每 epoch 全量评估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评估口径与论文一致(leave-one-out + 100 候选)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数据与日志校验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论文官方产物:训练 994,169 条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逐 epoch 指标落盘,6 位小数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文件字节数与行数校验,弃用模拟数据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实验流程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环境核验 → 数据校验 → 冒烟测试(2 epoch)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GMF / MLP / NeuMF 各 50 epoch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单模型 23-35 分钟(RTX 5070 Ti)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实验流程与实测日志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流程:冒烟测试确认链路后,三结构各跑 50 个 epoch,单模型 23 到 35 分钟。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复现结果:NeuMF 对齐论文 Table 2 水平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737360"/>
          <a:ext cx="10241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1737360"/>
                <a:gridCol w="1737360"/>
                <a:gridCol w="173736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复现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HR@10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论文 NDCG@10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出处</a:t>
                      </a:r>
                    </a:p>
                  </a:txBody>
                  <a:tcPr marT="36576" marB="36576" anchor="ctr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GMF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0.640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0.368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≈0.335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MLP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0.675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0.398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≈0.640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≈0.345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Figure 4 读数</a:t>
                      </a:r>
                    </a:p>
                  </a:txBody>
                  <a:tcPr marT="36576" marB="36576" anchor="ctr">
                    <a:solidFill>
                      <a:srgbClr val="EAEF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NeuMF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0.690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0.409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0.688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0.410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42B"/>
                          </a:solidFill>
                          <a:latin typeface="微软雅黑"/>
                          <a:ea typeface="微软雅黑"/>
                        </a:rPr>
                        <a:t>Table 2</a:t>
                      </a:r>
                    </a:p>
                  </a:txBody>
                  <a:tcPr marT="36576" marB="36576" anchor="ctr">
                    <a:solidFill>
                      <a:srgbClr val="FBF3D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448056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结论:</a:t>
            </a:r>
            <a:r>
              <a:rPr sz="1300" b="0">
                <a:solidFill>
                  <a:srgbClr val="21242B"/>
                </a:solidFill>
                <a:latin typeface="微软雅黑"/>
                <a:ea typeface="微软雅黑"/>
              </a:rPr>
              <a:t> 相对趋势 NeuMF &gt; GMF ≈ MLP 与论文完全一致;NeuMF 与 Table 2 数值差 ≤ 0.002(实验噪声范围),复现成立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• NeuMF no-pre-training(factor=8)对照论文 Table 2 精确值;GMF/MLP 对照 Figure 4 读数(±0.005),其 NDCG 高于读数源于实现结构差异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NeuMF 复现 0.690 / 0.409,论文 0.688 / 0.410,差 ≤ 0.002;相对趋势完全一致。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训练过程:三结构稳定收敛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91672" cy="39357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87568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微软雅黑"/>
                <a:ea typeface="微软雅黑"/>
              </a:rPr>
              <a:t>三结构约 20 epoch 后进入平台期 · 收敛平滑无过拟合 · 相对排序与论文一致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三个模型都稳定收敛,约 20 个 epoch 进入平台期,曲线平滑、无过拟合。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工具链与兼容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RTX 5070 Ti(Blackwell, sm_120)需 cu128+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预装 torch 为 CPU 版 → 强制重装 cu130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GitHub / 数据集官网直连不通 → 代理镜像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代理截断大文件 → 按字节数校验后重下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复现差距归因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① 实现差异:TF1→PyTorch,初始化/MLP 层宽不同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② 训练预算:论文网格搜索最优,本复现固定一组参数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③ 对照口径:论文 Figure 4 为图读值(±0.005)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相对趋势一致 → 复现可信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数据真伪甄别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预下载「ml-1m」实为模拟数据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抽查发现行为序列异常(user1: item 1..35 连续)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弃用,改取论文官方处理产物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校验:训练 994,169 行与论文协议一致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教训:先核数据源,指标才有意义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问题分析与踩坑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三个真实的坑:数据真伪甄别、新卡 CUDA 兼容、代理下载截断;差距归因分三层。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ounded Rectangle 8"/>
          <p:cNvSpPr/>
          <p:nvPr/>
        </p:nvSpPr>
        <p:spPr>
          <a:xfrm>
            <a:off x="9317736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73168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572768"/>
            <a:ext cx="2642615" cy="4206240"/>
          </a:xfrm>
          <a:prstGeom prst="roundRect">
            <a:avLst>
              <a:gd name="adj" fmla="val 4500"/>
            </a:avLst>
          </a:prstGeom>
          <a:solidFill>
            <a:srgbClr val="F2F4F8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超参与方差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只固定一组参数,未做网格搜索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论文调参取最优,是差距来源之一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单次运行,未报多随机种子均值±方差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实现差异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TF1 → PyTorch 移植,初始化与 MLP 层宽不同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GMF / MLP 的 NDCG 高于论文图读值由此而来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相对趋势仍与论文一致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/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评估口径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100 个候选(1 正 + 99 负)与全量物品排序不可比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论文正文称「100 负」,官方数据文件为 99 负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• 结论只在同口径下成立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局限性讨论与个人思考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87568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F4E79"/>
                </a:solidFill>
                <a:latin typeface="微软雅黑"/>
                <a:ea typeface="微软雅黑"/>
              </a:rPr>
              <a:t>个人思考:</a:t>
            </a:r>
            <a:r>
              <a:rPr sz="1050" b="0">
                <a:solidFill>
                  <a:srgbClr val="21242B"/>
                </a:solidFill>
                <a:latin typeface="微软雅黑"/>
                <a:ea typeface="微软雅黑"/>
              </a:rPr>
              <a:t>① 负采样改为难负样本 ② 物品侧引入属性融合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如实说明三点局限:评估口径、超参与方差、实现差异;下一步想试难负采样的小改进。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暑期学习总结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学了什么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科研方法论:文献检索与精读(三问框架)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PyTorch 实验全链路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Python / 数据分析 / Git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产物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独立完成 NCF 三结构复现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代码仓库 + 逐 epoch 实验日志 + 图表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遇到的问题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新卡 CUDA 兼容 / 数据源甄别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复现差异的归因方法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后续计划</a:t>
            </a:r>
          </a:p>
          <a:p>
            <a:pPr algn="l">
              <a:spcAft>
                <a:spcPts val="400"/>
              </a:spcAft>
            </a:pPr>
            <a:r>
              <a:rPr sz="4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对齐组内方向:开源生态 / 负责任推荐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补 GNN 与 LLM 推荐方法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从复现走向改进:负采样策略小实验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假期主线是打通最小科研闭环:从读懂论文到跑通实验再到结果对比。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21242B"/>
                </a:solidFill>
                <a:latin typeface="微软雅黑"/>
                <a:ea typeface="微软雅黑"/>
              </a:rPr>
              <a:t>具体产物(均可现场查验)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① 代码仓库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GitHub 公开:代码 + 官方数据 + 运行脚本 + README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环境、复现命令、结果表一应俱全,可复跑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② 实验日志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逐 epoch 指标:epoch / HR@10 / NDCG@10(6 位小数)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完整终端输出:每 epoch 耗时、最优结果自动记录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 wrap="square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③ 结果图表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结果对比表:复现值 vs 论文报告值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训练曲线:三结构 HR@10 / NDCG@10(200dpi)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④ 分析文档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复现实验记录:环境 / 协议 / 命令 / 问题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42B"/>
                </a:solidFill>
                <a:latin typeface="微软雅黑"/>
                <a:ea typeface="微软雅黑"/>
              </a:rPr>
              <a:t>• 本汇报 PPT 与讲稿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566928"/>
            <a:ext cx="64008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仓库地址:github.com/849982345-oss/NCF-reproduction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四类产物都可以现场查验:代码仓库、实验日志、结果图表、分析文档。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21242B"/>
                </a:solidFill>
                <a:latin typeface="微软雅黑"/>
                <a:ea typeface="微软雅黑"/>
              </a:rPr>
              <a:t>谢谢聆听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微软雅黑"/>
                <a:ea typeface="微软雅黑"/>
              </a:rPr>
              <a:t>代码仓库 · 实验日志 · 结果图表均可现场查看</a:t>
            </a:r>
          </a:p>
          <a:p>
            <a:pPr algn="ctr">
              <a:spcAft>
                <a:spcPts val="400"/>
              </a:spcAft>
            </a:pPr>
            <a:r>
              <a:rPr sz="600" b="0">
                <a:solidFill>
                  <a:srgbClr val="21242B"/>
                </a:solidFill>
                <a:latin typeface="微软雅黑"/>
                <a:ea typeface="微软雅黑"/>
              </a:rPr>
              <a:t/>
            </a:r>
          </a:p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</a:rPr>
              <a:t>欢迎各位老师批评指正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6035040"/>
            <a:ext cx="11183112" cy="384048"/>
          </a:xfrm>
          <a:prstGeom prst="roundRect">
            <a:avLst>
              <a:gd name="adj" fmla="val 25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0" bIns="0"/>
          <a:lstStyle/>
          <a:p>
            <a:pPr algn="l"/>
            <a:r>
              <a:rPr sz="1000" b="1">
                <a:solidFill>
                  <a:srgbClr val="1F4E79"/>
                </a:solidFill>
                <a:latin typeface="微软雅黑"/>
                <a:ea typeface="微软雅黑"/>
              </a:rPr>
              <a:t>口播  </a:t>
            </a:r>
            <a:r>
              <a:rPr sz="1100" b="0">
                <a:solidFill>
                  <a:srgbClr val="21242B"/>
                </a:solidFill>
                <a:latin typeface="微软雅黑"/>
                <a:ea typeface="微软雅黑"/>
              </a:rPr>
              <a:t>汇报结束,欢迎各位老师提问;仓库地址在页脚,全部材料都可现场查看。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858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A8B0BC"/>
                </a:solidFill>
                <a:latin typeface="微软雅黑"/>
                <a:ea typeface="微软雅黑"/>
              </a:rPr>
              <a:t>github.com/849982345-oss/NCF-reproduction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55664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>
                <a:solidFill>
                  <a:srgbClr val="A8B0BC"/>
                </a:solidFill>
                <a:latin typeface="微软雅黑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